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66" d="100"/>
          <a:sy n="66" d="100"/>
        </p:scale>
        <p:origin x="576" y="5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UMANTH-S-27/EV-Adoption-PowerBI-Dashboard.git" TargetMode="External"/><Relationship Id="rId2" Type="http://schemas.openxmlformats.org/officeDocument/2006/relationships/hyperlink" Target="https://www.kaggle.com/datasets/vagdevititikshag/indian-electric-vehicle-sales-20152025"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474727" y="1733778"/>
            <a:ext cx="6428447" cy="212518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p>
          <a:p>
            <a:pPr algn="l"/>
            <a:endParaRPr lang="en-US" sz="5100" dirty="0">
              <a:latin typeface="Aptos"/>
            </a:endParaRPr>
          </a:p>
          <a:p>
            <a:pPr algn="l">
              <a:lnSpc>
                <a:spcPct val="120000"/>
              </a:lnSpc>
            </a:pPr>
            <a:r>
              <a:rPr lang="en-US" sz="3100" b="1" dirty="0">
                <a:latin typeface="Aptos"/>
              </a:rPr>
              <a:t>ELECTRIC VEHICLE ADOPTION AND ANALYSIS IN INDIA USING POWER BI</a:t>
            </a:r>
          </a:p>
          <a:p>
            <a:pPr algn="l">
              <a:lnSpc>
                <a:spcPct val="120000"/>
              </a:lnSpc>
            </a:pPr>
            <a:endParaRPr lang="en-US" sz="3500" dirty="0">
              <a:latin typeface="Aptos"/>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424543" y="3739889"/>
            <a:ext cx="6478631"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SUMANTH S</a:t>
            </a:r>
          </a:p>
          <a:p>
            <a:pPr algn="l">
              <a:spcAft>
                <a:spcPts val="600"/>
              </a:spcAft>
            </a:pPr>
            <a:r>
              <a:rPr lang="en-US" sz="1600" b="1" cap="all" dirty="0"/>
              <a:t>College Name: PRESIDENCY UNIVERSITY</a:t>
            </a:r>
          </a:p>
          <a:p>
            <a:pPr algn="l">
              <a:spcAft>
                <a:spcPts val="600"/>
              </a:spcAft>
            </a:pPr>
            <a:r>
              <a:rPr lang="en-US" sz="1600" b="1" cap="all" dirty="0"/>
              <a:t>Department: Electronics AND COMMUNICATION ENGINEERING</a:t>
            </a:r>
          </a:p>
          <a:p>
            <a:pPr algn="l">
              <a:spcAft>
                <a:spcPts val="600"/>
              </a:spcAft>
            </a:pPr>
            <a:r>
              <a:rPr lang="en-US" sz="1600" b="1" cap="all" dirty="0"/>
              <a:t>Email ID: sumanth.20231ece3059@presidencyuniversity.in</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903175" y="269324"/>
            <a:ext cx="4600201"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l="13564" r="13440"/>
          <a:stretch/>
        </p:blipFill>
        <p:spPr>
          <a:xfrm>
            <a:off x="7700211" y="1247450"/>
            <a:ext cx="2964582" cy="4014758"/>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433387" y="698500"/>
            <a:ext cx="10081022" cy="1325563"/>
          </a:xfrm>
        </p:spPr>
        <p:txBody>
          <a:bodyPr lIns="91440" tIns="45720" rIns="91440" bIns="45720" anchor="t">
            <a:normAutofit/>
          </a:bodyPr>
          <a:lstStyle/>
          <a:p>
            <a:r>
              <a:rPr lang="en-US" sz="4000" b="1" cap="all" dirty="0">
                <a:latin typeface="Times New Roman" panose="02020603050405020304" pitchFamily="18" charset="0"/>
                <a:cs typeface="Times New Roman" panose="02020603050405020304" pitchFamily="18" charset="0"/>
              </a:rPr>
              <a:t>OUTLINE :-</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Problem Statement</a:t>
            </a: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Proposed Solution</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System Development Approach</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Algorithm &amp; Deployment  </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Result </a:t>
            </a: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Future Scope</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References</a:t>
            </a:r>
            <a:endParaRPr lang="en-US" sz="2200" dirty="0">
              <a:latin typeface="Times New Roman" panose="02020603050405020304" pitchFamily="18" charset="0"/>
              <a:cs typeface="Times New Roman" panose="02020603050405020304" pitchFamily="18" charset="0"/>
            </a:endParaRPr>
          </a:p>
          <a:p>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372808" y="686594"/>
            <a:ext cx="10223896" cy="1325563"/>
          </a:xfrm>
        </p:spPr>
        <p:txBody>
          <a:bodyPr lIns="91440" tIns="45720" rIns="91440" bIns="45720" anchor="t">
            <a:normAutofit/>
          </a:bodyPr>
          <a:lstStyle/>
          <a:p>
            <a:pPr marL="182563"/>
            <a:r>
              <a:rPr lang="en-US" sz="4000" b="1" cap="all" dirty="0">
                <a:latin typeface="Times New Roman" panose="02020603050405020304" pitchFamily="18" charset="0"/>
                <a:cs typeface="Times New Roman" panose="02020603050405020304" pitchFamily="18" charset="0"/>
              </a:rPr>
              <a:t>Problem Statement :-</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436816" y="1715071"/>
            <a:ext cx="10223896" cy="4251960"/>
          </a:xfrm>
        </p:spPr>
        <p:txBody>
          <a:bodyPr vert="horz" lIns="91440" tIns="45720" rIns="91440" bIns="45720" rtlCol="0">
            <a:normAutofit/>
          </a:bodyPr>
          <a:lstStyle/>
          <a:p>
            <a:pPr marL="182563" indent="0" algn="just">
              <a:lnSpc>
                <a:spcPct val="100000"/>
              </a:lnSpc>
              <a:buNone/>
              <a:tabLst>
                <a:tab pos="10136188" algn="l"/>
                <a:tab pos="10318750" algn="l"/>
              </a:tabLst>
            </a:pPr>
            <a:r>
              <a:rPr lang="en-US" sz="2000" dirty="0">
                <a:latin typeface="Times New Roman" panose="02020603050405020304" pitchFamily="18" charset="0"/>
                <a:cs typeface="Times New Roman" panose="02020603050405020304" pitchFamily="18" charset="0"/>
              </a:rPr>
              <a:t>The adoption of Electric Vehicles (EVs) is rapidly increasing in India as the country moves towards sustainable transportation and reduced carbon emissions. However, EV adoption varies significantly across different states and regions due to factors such as infrastructure availability, government policies, and consumer awareness. Without proper data visualization and analysis tools, it becomes difficult for policymakers and industry stakeholders to understand EV growth trends and identify regions requiring infrastructure development. Therefore, a data-driven analytics dashboard is required to analyze EV adoption patterns and support strategic planning for EV infrastructure expansion.</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457199" y="603250"/>
            <a:ext cx="10057209" cy="1325563"/>
          </a:xfrm>
        </p:spPr>
        <p:txBody>
          <a:bodyPr lIns="91440" tIns="45720" rIns="91440" bIns="45720" anchor="t">
            <a:normAutofit/>
          </a:bodyPr>
          <a:lstStyle/>
          <a:p>
            <a:pPr marL="182563"/>
            <a:r>
              <a:rPr lang="en-US" sz="3200" b="1" cap="all" dirty="0">
                <a:latin typeface="Times New Roman" panose="02020603050405020304" pitchFamily="18" charset="0"/>
                <a:cs typeface="Times New Roman" panose="02020603050405020304" pitchFamily="18" charset="0"/>
              </a:rPr>
              <a:t>Proposed Solution :-</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457199" y="911259"/>
            <a:ext cx="10457849" cy="6116547"/>
          </a:xfrm>
        </p:spPr>
        <p:txBody>
          <a:bodyPr vert="horz" lIns="91440" tIns="45720" rIns="91440" bIns="45720" rtlCol="0" anchor="t">
            <a:noAutofit/>
          </a:bodyPr>
          <a:lstStyle/>
          <a:p>
            <a:pPr marL="182563" indent="0" algn="just">
              <a:lnSpc>
                <a:spcPct val="100000"/>
              </a:lnSpc>
              <a:buNone/>
            </a:pPr>
            <a:r>
              <a:rPr lang="en-US" sz="1800" dirty="0">
                <a:latin typeface="Times New Roman" panose="02020603050405020304" pitchFamily="18" charset="0"/>
                <a:cs typeface="Times New Roman" panose="02020603050405020304" pitchFamily="18" charset="0"/>
              </a:rPr>
              <a:t>The proposed system focuses on analyzing electric vehicle adoption trends in India using a data visualization dashboard developed in Power BI. The solution involves the following steps:</a:t>
            </a:r>
          </a:p>
          <a:p>
            <a:pPr marL="925513" lvl="1" indent="-285750" algn="just">
              <a:lnSpc>
                <a:spcPct val="15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Data Collection :-</a:t>
            </a:r>
          </a:p>
          <a:p>
            <a:pPr marL="639763" lvl="1"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The electric vehicle sales dataset was collected from the Kaggle data platform. The dataset contains 	EV sales information in India from 2015 to 2025, including attributes such as year, vehicle category, 	vehicle segment, sales quantity, and EV market penetration percentage.</a:t>
            </a:r>
          </a:p>
          <a:p>
            <a:pPr marL="925513" lvl="1" indent="-285750" algn="just">
              <a:lnSpc>
                <a:spcPct val="10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Data Preprocessing :-</a:t>
            </a:r>
          </a:p>
          <a:p>
            <a:pPr marL="639763" lvl="1"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The dataset was examined and cleaned to remove inconsistencies and ensure the data was properly 	structured. Column data types were corrected and the dataset was organized for analysis.</a:t>
            </a:r>
          </a:p>
          <a:p>
            <a:pPr marL="925513" lvl="1" indent="-285750" algn="just">
              <a:lnSpc>
                <a:spcPct val="15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Data Analysis :-</a:t>
            </a:r>
          </a:p>
          <a:p>
            <a:pPr marL="639763" lvl="1"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The prepared dataset was analyzed using Microsoft Power BI. Various visualizations were created to 	study EV sales trends, compare vehicle categories, analyze vehicle segments, and observe EV market 	penetration over time.</a:t>
            </a:r>
          </a:p>
          <a:p>
            <a:pPr marL="925513" lvl="1" indent="-285750" algn="just">
              <a:lnSpc>
                <a:spcPct val="15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Deployment :-</a:t>
            </a:r>
          </a:p>
          <a:p>
            <a:pPr marL="639763" lvl="1"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An interactive Power BI dashboard was developed that allows users to explore EV adoption trends 	through charts, filters, and analytical visuals.</a:t>
            </a:r>
          </a:p>
          <a:p>
            <a:pPr marL="925513" lvl="1" indent="-285750" algn="just">
              <a:lnSpc>
                <a:spcPct val="15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Evaluation :-</a:t>
            </a:r>
          </a:p>
          <a:p>
            <a:pPr marL="639763" lvl="1"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The dashboard was evaluated based on its ability to clearly present EV adoption insights, sales 	growth trends, and market penetration patterns.</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417992" y="699528"/>
            <a:ext cx="10097060" cy="1325563"/>
          </a:xfrm>
        </p:spPr>
        <p:txBody>
          <a:bodyPr lIns="91440" tIns="45720" rIns="91440" bIns="45720" anchor="t">
            <a:normAutofit/>
          </a:bodyPr>
          <a:lstStyle/>
          <a:p>
            <a:pPr marL="87313"/>
            <a:r>
              <a:rPr lang="en-US" sz="4000" b="1" cap="all" dirty="0">
                <a:latin typeface="Times New Roman" panose="02020603050405020304" pitchFamily="18" charset="0"/>
                <a:cs typeface="Times New Roman" panose="02020603050405020304" pitchFamily="18" charset="0"/>
              </a:rPr>
              <a:t>System  Approach :-</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417992" y="1432122"/>
            <a:ext cx="10701111" cy="5837358"/>
          </a:xfrm>
        </p:spPr>
        <p:txBody>
          <a:bodyPr vert="horz" lIns="91440" tIns="45720" rIns="91440" bIns="45720" rtlCol="0">
            <a:noAutofit/>
          </a:bodyPr>
          <a:lstStyle/>
          <a:p>
            <a:pPr marL="87313" indent="0" algn="just">
              <a:lnSpc>
                <a:spcPct val="100000"/>
              </a:lnSpc>
              <a:buNone/>
            </a:pPr>
            <a:r>
              <a:rPr lang="en-US" sz="1800" dirty="0">
                <a:latin typeface="Times New Roman" panose="02020603050405020304" pitchFamily="18" charset="0"/>
                <a:cs typeface="Times New Roman" panose="02020603050405020304" pitchFamily="18" charset="0"/>
              </a:rPr>
              <a:t>This project follows a data analytics approach to study electric vehicle adoption trends in India using a Power BI visualization dashboard.</a:t>
            </a:r>
          </a:p>
          <a:p>
            <a:pPr marL="625475" lvl="1" indent="-173038"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System Requirements</a:t>
            </a:r>
            <a:endParaRPr lang="en-US" sz="1800" dirty="0">
              <a:latin typeface="Times New Roman" panose="02020603050405020304" pitchFamily="18" charset="0"/>
              <a:cs typeface="Times New Roman" panose="02020603050405020304" pitchFamily="18" charset="0"/>
            </a:endParaRPr>
          </a:p>
          <a:p>
            <a:pPr marL="895350" lvl="5" indent="-173038" algn="just">
              <a:lnSpc>
                <a:spcPct val="100000"/>
              </a:lnSpc>
            </a:pPr>
            <a:r>
              <a:rPr lang="en-US" dirty="0">
                <a:latin typeface="Times New Roman" panose="02020603050405020304" pitchFamily="18" charset="0"/>
                <a:cs typeface="Times New Roman" panose="02020603050405020304" pitchFamily="18" charset="0"/>
              </a:rPr>
              <a:t>A computer system with Windows operating system.</a:t>
            </a:r>
          </a:p>
          <a:p>
            <a:pPr marL="895350" lvl="5" indent="-173038" algn="just">
              <a:lnSpc>
                <a:spcPct val="100000"/>
              </a:lnSpc>
            </a:pPr>
            <a:r>
              <a:rPr lang="en-US" dirty="0">
                <a:latin typeface="Times New Roman" panose="02020603050405020304" pitchFamily="18" charset="0"/>
                <a:cs typeface="Times New Roman" panose="02020603050405020304" pitchFamily="18" charset="0"/>
              </a:rPr>
              <a:t>Microsoft Power BI Desktop installed.</a:t>
            </a:r>
          </a:p>
          <a:p>
            <a:pPr marL="895350" lvl="5" indent="-173038" algn="just">
              <a:lnSpc>
                <a:spcPct val="100000"/>
              </a:lnSpc>
            </a:pPr>
            <a:r>
              <a:rPr lang="en-US" dirty="0">
                <a:latin typeface="Times New Roman" panose="02020603050405020304" pitchFamily="18" charset="0"/>
                <a:cs typeface="Times New Roman" panose="02020603050405020304" pitchFamily="18" charset="0"/>
              </a:rPr>
              <a:t>Internet access to download dataset from KAGGLE.</a:t>
            </a:r>
          </a:p>
          <a:p>
            <a:pPr marL="895350" lvl="5" indent="-173038" algn="just">
              <a:lnSpc>
                <a:spcPct val="100000"/>
              </a:lnSpc>
            </a:pPr>
            <a:r>
              <a:rPr lang="en-US" dirty="0">
                <a:latin typeface="Times New Roman" panose="02020603050405020304" pitchFamily="18" charset="0"/>
                <a:cs typeface="Times New Roman" panose="02020603050405020304" pitchFamily="18" charset="0"/>
              </a:rPr>
              <a:t>Basic knowledge of data visualization and analytics.</a:t>
            </a:r>
          </a:p>
          <a:p>
            <a:pPr marL="625475" lvl="1" indent="-173038"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Tools / Software Used</a:t>
            </a:r>
            <a:endParaRPr lang="en-US" sz="1800" dirty="0">
              <a:latin typeface="Times New Roman" panose="02020603050405020304" pitchFamily="18" charset="0"/>
              <a:cs typeface="Times New Roman" panose="02020603050405020304" pitchFamily="18" charset="0"/>
            </a:endParaRPr>
          </a:p>
          <a:p>
            <a:pPr marL="895350" lvl="5" indent="-173038" algn="just">
              <a:lnSpc>
                <a:spcPct val="100000"/>
              </a:lnSpc>
            </a:pPr>
            <a:r>
              <a:rPr lang="en-US" b="1" dirty="0">
                <a:latin typeface="Times New Roman" panose="02020603050405020304" pitchFamily="18" charset="0"/>
                <a:cs typeface="Times New Roman" panose="02020603050405020304" pitchFamily="18" charset="0"/>
              </a:rPr>
              <a:t>Microsoft Power BI</a:t>
            </a:r>
            <a:r>
              <a:rPr lang="en-US" dirty="0">
                <a:latin typeface="Times New Roman" panose="02020603050405020304" pitchFamily="18" charset="0"/>
                <a:cs typeface="Times New Roman" panose="02020603050405020304" pitchFamily="18" charset="0"/>
              </a:rPr>
              <a:t> – used for creating interactive dashboards and visualizations.</a:t>
            </a:r>
          </a:p>
          <a:p>
            <a:pPr marL="895350" lvl="5" indent="-173038" algn="just">
              <a:lnSpc>
                <a:spcPct val="100000"/>
              </a:lnSpc>
            </a:pPr>
            <a:r>
              <a:rPr lang="en-US" b="1" dirty="0">
                <a:latin typeface="Times New Roman" panose="02020603050405020304" pitchFamily="18" charset="0"/>
                <a:cs typeface="Times New Roman" panose="02020603050405020304" pitchFamily="18" charset="0"/>
              </a:rPr>
              <a:t>Microsoft Excel / CSV dataset</a:t>
            </a:r>
            <a:r>
              <a:rPr lang="en-US" dirty="0">
                <a:latin typeface="Times New Roman" panose="02020603050405020304" pitchFamily="18" charset="0"/>
                <a:cs typeface="Times New Roman" panose="02020603050405020304" pitchFamily="18" charset="0"/>
              </a:rPr>
              <a:t> – used as the primary data source for EV sales analysis.</a:t>
            </a:r>
          </a:p>
          <a:p>
            <a:pPr marL="895350" lvl="5" indent="-173038" algn="just">
              <a:lnSpc>
                <a:spcPct val="100000"/>
              </a:lnSpc>
            </a:pPr>
            <a:r>
              <a:rPr lang="en-US" b="1" dirty="0">
                <a:latin typeface="Times New Roman" panose="02020603050405020304" pitchFamily="18" charset="0"/>
                <a:cs typeface="Times New Roman" panose="02020603050405020304" pitchFamily="18" charset="0"/>
              </a:rPr>
              <a:t>Microsoft Excel / Power BI Data Transformation tools – </a:t>
            </a:r>
            <a:r>
              <a:rPr lang="en-US" dirty="0">
                <a:latin typeface="Times New Roman" panose="02020603050405020304" pitchFamily="18" charset="0"/>
                <a:cs typeface="Times New Roman" panose="02020603050405020304" pitchFamily="18" charset="0"/>
              </a:rPr>
              <a:t>used for cleaning and organizing the dataset.</a:t>
            </a:r>
          </a:p>
          <a:p>
            <a:pPr marL="87313" indent="0" algn="just">
              <a:lnSpc>
                <a:spcPct val="100000"/>
              </a:lnSpc>
              <a:buNone/>
            </a:pPr>
            <a:r>
              <a:rPr lang="en-US" sz="1800" dirty="0">
                <a:latin typeface="Times New Roman" panose="02020603050405020304" pitchFamily="18" charset="0"/>
                <a:cs typeface="Times New Roman" panose="02020603050405020304" pitchFamily="18" charset="0"/>
              </a:rPr>
              <a:t>The dataset is processed in Power BI and transformed into visual representations that help analyze EV sales trends, vehicle categories, and market penetration patterns.</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376428" y="600448"/>
            <a:ext cx="10515600" cy="1325563"/>
          </a:xfrm>
        </p:spPr>
        <p:txBody>
          <a:bodyPr lIns="91440" tIns="45720" rIns="91440" bIns="45720" anchor="t">
            <a:normAutofit/>
          </a:bodyPr>
          <a:lstStyle/>
          <a:p>
            <a:r>
              <a:rPr lang="en-US" sz="3400" b="1" cap="all" dirty="0">
                <a:latin typeface="Times New Roman" panose="02020603050405020304" pitchFamily="18" charset="0"/>
                <a:cs typeface="Times New Roman" panose="02020603050405020304" pitchFamily="18" charset="0"/>
              </a:rPr>
              <a:t>Algorithm &amp; Deployment :-</a:t>
            </a:r>
            <a:endParaRPr lang="en-US" sz="3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376428" y="1065035"/>
            <a:ext cx="10731127" cy="6056202"/>
          </a:xfrm>
        </p:spPr>
        <p:txBody>
          <a:bodyPr vert="horz" lIns="91440" tIns="45720" rIns="91440" bIns="45720" rtlCol="0">
            <a:noAutofit/>
          </a:bodyPr>
          <a:lstStyle/>
          <a:p>
            <a:pPr marL="0" indent="0" algn="just">
              <a:buNone/>
            </a:pPr>
            <a:r>
              <a:rPr lang="en-US" sz="1800" dirty="0">
                <a:latin typeface="Times New Roman" panose="02020603050405020304" pitchFamily="18" charset="0"/>
                <a:cs typeface="Times New Roman" panose="02020603050405020304" pitchFamily="18" charset="0"/>
              </a:rPr>
              <a:t>This project follows a structured data analysis workflow to study electric vehicle adoption trends in India.</a:t>
            </a:r>
          </a:p>
          <a:p>
            <a:pPr algn="just">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Algorithm / Workflow</a:t>
            </a:r>
            <a:endParaRPr lang="en-US" sz="1800" dirty="0">
              <a:latin typeface="Times New Roman" panose="02020603050405020304" pitchFamily="18" charset="0"/>
              <a:cs typeface="Times New Roman" panose="02020603050405020304" pitchFamily="18" charset="0"/>
            </a:endParaRPr>
          </a:p>
          <a:p>
            <a:pPr marL="355600" lvl="1" indent="-173038" algn="just">
              <a:lnSpc>
                <a:spcPct val="150000"/>
              </a:lnSpc>
            </a:pPr>
            <a:r>
              <a:rPr lang="en-US" sz="1800" b="1" dirty="0">
                <a:latin typeface="Times New Roman" panose="02020603050405020304" pitchFamily="18" charset="0"/>
                <a:cs typeface="Times New Roman" panose="02020603050405020304" pitchFamily="18" charset="0"/>
              </a:rPr>
              <a:t>Step 1: Data Input :-</a:t>
            </a:r>
          </a:p>
          <a:p>
            <a:pPr marL="452438" lvl="1" indent="-365125" algn="just">
              <a:lnSpc>
                <a:spcPct val="100000"/>
              </a:lnSpc>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electric vehicle sales dataset (2015–2025) was imported into Microsoft Power BI in CSV format.</a:t>
            </a:r>
          </a:p>
          <a:p>
            <a:pPr marL="355600" lvl="1" indent="-182563" algn="just">
              <a:lnSpc>
                <a:spcPct val="150000"/>
              </a:lnSpc>
            </a:pPr>
            <a:r>
              <a:rPr lang="en-US" sz="1800" b="1" dirty="0">
                <a:latin typeface="Times New Roman" panose="02020603050405020304" pitchFamily="18" charset="0"/>
                <a:cs typeface="Times New Roman" panose="02020603050405020304" pitchFamily="18" charset="0"/>
              </a:rPr>
              <a:t>Step 2: Data Preparation :-</a:t>
            </a:r>
          </a:p>
          <a:p>
            <a:pPr marL="452438" lvl="1" indent="-365125"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dataset was reviewed and cleaned by correcting data types, removing inconsistencies, and 		    organizing the columns for proper analysis.</a:t>
            </a:r>
          </a:p>
          <a:p>
            <a:pPr marL="355600" lvl="1" indent="-182563" algn="just">
              <a:lnSpc>
                <a:spcPct val="150000"/>
              </a:lnSpc>
            </a:pPr>
            <a:r>
              <a:rPr lang="en-US" sz="1800" b="1" dirty="0">
                <a:latin typeface="Times New Roman" panose="02020603050405020304" pitchFamily="18" charset="0"/>
                <a:cs typeface="Times New Roman" panose="02020603050405020304" pitchFamily="18" charset="0"/>
              </a:rPr>
              <a:t>Step 3: Data Modeling :-</a:t>
            </a:r>
          </a:p>
          <a:p>
            <a:pPr marL="452438" lvl="1" indent="-365125"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Relevant attributes such as Year, Vehicle Category, Segment, Sales Quantity, and EV Penetration were 	   used to build relationships and support meaningful analysis.</a:t>
            </a:r>
          </a:p>
          <a:p>
            <a:pPr marL="355600" lvl="1" indent="-182563" algn="just">
              <a:lnSpc>
                <a:spcPct val="150000"/>
              </a:lnSpc>
            </a:pPr>
            <a:r>
              <a:rPr lang="en-US" sz="1800" b="1" dirty="0">
                <a:latin typeface="Times New Roman" panose="02020603050405020304" pitchFamily="18" charset="0"/>
                <a:cs typeface="Times New Roman" panose="02020603050405020304" pitchFamily="18" charset="0"/>
              </a:rPr>
              <a:t>Step 4: Visualization :-</a:t>
            </a:r>
          </a:p>
          <a:p>
            <a:pPr marL="452438" lvl="1" indent="-365125"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Various visualizations were created in Power BI, including line charts, bar charts, pie charts, and KPI 	   cards to analyze EV sales trends and market penetration.</a:t>
            </a:r>
          </a:p>
          <a:p>
            <a:pPr marL="355600" lvl="1" indent="-182563" algn="just">
              <a:lnSpc>
                <a:spcPct val="150000"/>
              </a:lnSpc>
            </a:pPr>
            <a:r>
              <a:rPr lang="en-US" sz="1800" b="1" dirty="0">
                <a:latin typeface="Times New Roman" panose="02020603050405020304" pitchFamily="18" charset="0"/>
                <a:cs typeface="Times New Roman" panose="02020603050405020304" pitchFamily="18" charset="0"/>
              </a:rPr>
              <a:t>Step 5: Dashboard Deployment :-</a:t>
            </a:r>
          </a:p>
          <a:p>
            <a:pPr marL="452438" lvl="1" indent="-365125"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 interactive Power BI dashboard was developed that allows users to explore EV adoption trends 	   through filters and dynamic visualizations.</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263985" y="612394"/>
            <a:ext cx="10515600" cy="1325563"/>
          </a:xfrm>
        </p:spPr>
        <p:txBody>
          <a:bodyPr lIns="91440" tIns="45720" rIns="91440" bIns="45720" anchor="t">
            <a:normAutofit/>
          </a:bodyPr>
          <a:lstStyle/>
          <a:p>
            <a:pPr marL="87313"/>
            <a:r>
              <a:rPr lang="en-US" sz="4000" b="1" cap="all" dirty="0">
                <a:latin typeface="Times New Roman" panose="02020603050405020304" pitchFamily="18" charset="0"/>
                <a:cs typeface="Times New Roman" panose="02020603050405020304" pitchFamily="18" charset="0"/>
              </a:rPr>
              <a:t>Result :-</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76638" y="6242664"/>
            <a:ext cx="10515600" cy="2499289"/>
          </a:xfrm>
        </p:spPr>
        <p:txBody>
          <a:bodyPr vert="horz" lIns="91440" tIns="45720" rIns="91440" bIns="45720" rtlCol="0">
            <a:normAutofit/>
          </a:bodyPr>
          <a:lstStyle/>
          <a:p>
            <a:pPr marL="87313" indent="0" algn="ctr">
              <a:lnSpc>
                <a:spcPct val="100000"/>
              </a:lnSpc>
              <a:spcBef>
                <a:spcPts val="1250"/>
              </a:spcBef>
              <a:buNone/>
            </a:pPr>
            <a:r>
              <a:rPr lang="en-US" sz="1600" i="1" dirty="0">
                <a:latin typeface="Times New Roman" panose="02020603050405020304" pitchFamily="18" charset="0"/>
                <a:cs typeface="Times New Roman" panose="02020603050405020304" pitchFamily="18" charset="0"/>
              </a:rPr>
              <a:t>Fig 1 : Dashboard in Power BI</a:t>
            </a:r>
          </a:p>
        </p:txBody>
      </p:sp>
      <p:pic>
        <p:nvPicPr>
          <p:cNvPr id="7" name="Picture 6" descr="A screenshot of a graph">
            <a:extLst>
              <a:ext uri="{FF2B5EF4-FFF2-40B4-BE49-F238E27FC236}">
                <a16:creationId xmlns:a16="http://schemas.microsoft.com/office/drawing/2014/main" id="{91389DC1-17AD-B5E2-45DB-B18178CEB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638" y="1275175"/>
            <a:ext cx="11188845" cy="4872426"/>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263985" y="612394"/>
            <a:ext cx="10515600" cy="1325563"/>
          </a:xfrm>
        </p:spPr>
        <p:txBody>
          <a:bodyPr lIns="91440" tIns="45720" rIns="91440" bIns="45720" anchor="t">
            <a:normAutofit/>
          </a:bodyPr>
          <a:lstStyle/>
          <a:p>
            <a:pPr marL="87313"/>
            <a:r>
              <a:rPr lang="en-US" sz="4000" b="1" cap="all" dirty="0">
                <a:latin typeface="Times New Roman" panose="02020603050405020304" pitchFamily="18" charset="0"/>
                <a:cs typeface="Times New Roman" panose="02020603050405020304" pitchFamily="18" charset="0"/>
              </a:rPr>
              <a:t>Result :-</a:t>
            </a:r>
            <a:endParaRPr lang="en-US"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B00558A-1C3F-C4B9-F79E-CEEE2129F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2415" y="1275175"/>
            <a:ext cx="4386021" cy="2126142"/>
          </a:xfrm>
          <a:prstGeom prst="rect">
            <a:avLst/>
          </a:prstGeom>
        </p:spPr>
      </p:pic>
      <p:pic>
        <p:nvPicPr>
          <p:cNvPr id="8" name="Picture 7">
            <a:extLst>
              <a:ext uri="{FF2B5EF4-FFF2-40B4-BE49-F238E27FC236}">
                <a16:creationId xmlns:a16="http://schemas.microsoft.com/office/drawing/2014/main" id="{32BF23B5-9B96-8DA2-755E-846020E385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9801" y="1302857"/>
            <a:ext cx="4349836" cy="2126143"/>
          </a:xfrm>
          <a:prstGeom prst="rect">
            <a:avLst/>
          </a:prstGeom>
        </p:spPr>
      </p:pic>
      <p:pic>
        <p:nvPicPr>
          <p:cNvPr id="10" name="Picture 9">
            <a:extLst>
              <a:ext uri="{FF2B5EF4-FFF2-40B4-BE49-F238E27FC236}">
                <a16:creationId xmlns:a16="http://schemas.microsoft.com/office/drawing/2014/main" id="{308B9F4F-8ED5-1B70-B56E-57ADEBB682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2415" y="3850106"/>
            <a:ext cx="4386021" cy="2126142"/>
          </a:xfrm>
          <a:prstGeom prst="rect">
            <a:avLst/>
          </a:prstGeom>
        </p:spPr>
      </p:pic>
      <p:pic>
        <p:nvPicPr>
          <p:cNvPr id="12" name="Picture 11">
            <a:extLst>
              <a:ext uri="{FF2B5EF4-FFF2-40B4-BE49-F238E27FC236}">
                <a16:creationId xmlns:a16="http://schemas.microsoft.com/office/drawing/2014/main" id="{956EBC53-5CDF-D845-3B5F-C60E6D06BC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9800" y="3850106"/>
            <a:ext cx="4349836" cy="2126142"/>
          </a:xfrm>
          <a:prstGeom prst="rect">
            <a:avLst/>
          </a:prstGeom>
        </p:spPr>
      </p:pic>
      <p:sp>
        <p:nvSpPr>
          <p:cNvPr id="13" name="TextBox 12">
            <a:extLst>
              <a:ext uri="{FF2B5EF4-FFF2-40B4-BE49-F238E27FC236}">
                <a16:creationId xmlns:a16="http://schemas.microsoft.com/office/drawing/2014/main" id="{C047CA6C-5B54-4E1E-EADD-47D87C7580A5}"/>
              </a:ext>
            </a:extLst>
          </p:cNvPr>
          <p:cNvSpPr txBox="1"/>
          <p:nvPr/>
        </p:nvSpPr>
        <p:spPr>
          <a:xfrm>
            <a:off x="1601000" y="3401317"/>
            <a:ext cx="4126032" cy="307777"/>
          </a:xfrm>
          <a:prstGeom prst="rect">
            <a:avLst/>
          </a:prstGeom>
          <a:noFill/>
        </p:spPr>
        <p:txBody>
          <a:bodyPr wrap="square" rtlCol="0">
            <a:spAutoFit/>
          </a:bodyPr>
          <a:lstStyle/>
          <a:p>
            <a:pPr algn="ctr"/>
            <a:r>
              <a:rPr lang="en-IN" sz="1400" i="1" dirty="0">
                <a:latin typeface="Times New Roman" panose="02020603050405020304" pitchFamily="18" charset="0"/>
                <a:cs typeface="Times New Roman" panose="02020603050405020304" pitchFamily="18" charset="0"/>
              </a:rPr>
              <a:t>Fig 2. Bus Analysis </a:t>
            </a:r>
          </a:p>
        </p:txBody>
      </p:sp>
      <p:sp>
        <p:nvSpPr>
          <p:cNvPr id="14" name="TextBox 13">
            <a:extLst>
              <a:ext uri="{FF2B5EF4-FFF2-40B4-BE49-F238E27FC236}">
                <a16:creationId xmlns:a16="http://schemas.microsoft.com/office/drawing/2014/main" id="{9D899C2A-055B-ACA5-22A4-0968DC2FD837}"/>
              </a:ext>
            </a:extLst>
          </p:cNvPr>
          <p:cNvSpPr txBox="1"/>
          <p:nvPr/>
        </p:nvSpPr>
        <p:spPr>
          <a:xfrm>
            <a:off x="6789800" y="5937829"/>
            <a:ext cx="4126032" cy="307777"/>
          </a:xfrm>
          <a:prstGeom prst="rect">
            <a:avLst/>
          </a:prstGeom>
          <a:noFill/>
        </p:spPr>
        <p:txBody>
          <a:bodyPr wrap="square" rtlCol="0">
            <a:spAutoFit/>
          </a:bodyPr>
          <a:lstStyle/>
          <a:p>
            <a:pPr algn="ctr"/>
            <a:r>
              <a:rPr lang="en-IN" sz="1400" i="1" dirty="0">
                <a:latin typeface="Times New Roman" panose="02020603050405020304" pitchFamily="18" charset="0"/>
                <a:cs typeface="Times New Roman" panose="02020603050405020304" pitchFamily="18" charset="0"/>
              </a:rPr>
              <a:t>Fig 5. Two-Wheeler Analysis </a:t>
            </a:r>
          </a:p>
        </p:txBody>
      </p:sp>
      <p:sp>
        <p:nvSpPr>
          <p:cNvPr id="15" name="TextBox 14">
            <a:extLst>
              <a:ext uri="{FF2B5EF4-FFF2-40B4-BE49-F238E27FC236}">
                <a16:creationId xmlns:a16="http://schemas.microsoft.com/office/drawing/2014/main" id="{26196CFC-C52E-B5FC-0B50-145C771ABDE4}"/>
              </a:ext>
            </a:extLst>
          </p:cNvPr>
          <p:cNvSpPr txBox="1"/>
          <p:nvPr/>
        </p:nvSpPr>
        <p:spPr>
          <a:xfrm>
            <a:off x="1520004" y="5937829"/>
            <a:ext cx="4126032" cy="307777"/>
          </a:xfrm>
          <a:prstGeom prst="rect">
            <a:avLst/>
          </a:prstGeom>
          <a:noFill/>
        </p:spPr>
        <p:txBody>
          <a:bodyPr wrap="square" rtlCol="0">
            <a:spAutoFit/>
          </a:bodyPr>
          <a:lstStyle/>
          <a:p>
            <a:pPr algn="ctr"/>
            <a:r>
              <a:rPr lang="en-IN" sz="1400" i="1" dirty="0">
                <a:latin typeface="Times New Roman" panose="02020603050405020304" pitchFamily="18" charset="0"/>
                <a:cs typeface="Times New Roman" panose="02020603050405020304" pitchFamily="18" charset="0"/>
              </a:rPr>
              <a:t>Fig 4. Three-Wheeler Analysis </a:t>
            </a:r>
          </a:p>
        </p:txBody>
      </p:sp>
      <p:sp>
        <p:nvSpPr>
          <p:cNvPr id="16" name="TextBox 15">
            <a:extLst>
              <a:ext uri="{FF2B5EF4-FFF2-40B4-BE49-F238E27FC236}">
                <a16:creationId xmlns:a16="http://schemas.microsoft.com/office/drawing/2014/main" id="{E0FD844E-F889-BF4E-6725-11C9A2A07563}"/>
              </a:ext>
            </a:extLst>
          </p:cNvPr>
          <p:cNvSpPr txBox="1"/>
          <p:nvPr/>
        </p:nvSpPr>
        <p:spPr>
          <a:xfrm>
            <a:off x="6789800" y="3485664"/>
            <a:ext cx="4126032" cy="307777"/>
          </a:xfrm>
          <a:prstGeom prst="rect">
            <a:avLst/>
          </a:prstGeom>
          <a:noFill/>
        </p:spPr>
        <p:txBody>
          <a:bodyPr wrap="square" rtlCol="0">
            <a:spAutoFit/>
          </a:bodyPr>
          <a:lstStyle/>
          <a:p>
            <a:pPr algn="ctr"/>
            <a:r>
              <a:rPr lang="en-IN" sz="1400" i="1" dirty="0">
                <a:latin typeface="Times New Roman" panose="02020603050405020304" pitchFamily="18" charset="0"/>
                <a:cs typeface="Times New Roman" panose="02020603050405020304" pitchFamily="18" charset="0"/>
              </a:rPr>
              <a:t>Fig 3. Four-Wheeler Analysis </a:t>
            </a:r>
          </a:p>
        </p:txBody>
      </p:sp>
    </p:spTree>
    <p:extLst>
      <p:ext uri="{BB962C8B-B14F-4D97-AF65-F5344CB8AC3E}">
        <p14:creationId xmlns:p14="http://schemas.microsoft.com/office/powerpoint/2010/main" val="4062514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263985" y="612394"/>
            <a:ext cx="10515600" cy="1325563"/>
          </a:xfrm>
        </p:spPr>
        <p:txBody>
          <a:bodyPr lIns="91440" tIns="45720" rIns="91440" bIns="45720" anchor="t">
            <a:normAutofit/>
          </a:bodyPr>
          <a:lstStyle/>
          <a:p>
            <a:pPr marL="87313"/>
            <a:r>
              <a:rPr lang="en-US" sz="4000" b="1" cap="all" dirty="0">
                <a:latin typeface="Times New Roman" panose="02020603050405020304" pitchFamily="18" charset="0"/>
                <a:cs typeface="Times New Roman" panose="02020603050405020304" pitchFamily="18" charset="0"/>
              </a:rPr>
              <a:t>Result :-</a:t>
            </a:r>
            <a:endParaRPr lang="en-US" sz="4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9A35970-DAD5-4AD7-6342-BA4E224F4CCA}"/>
              </a:ext>
            </a:extLst>
          </p:cNvPr>
          <p:cNvSpPr txBox="1"/>
          <p:nvPr/>
        </p:nvSpPr>
        <p:spPr>
          <a:xfrm>
            <a:off x="837398" y="1626669"/>
            <a:ext cx="9625263" cy="25355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EV sales in India have increased significantly after 2020, showing rapid growth in electric mobility adoption.</a:t>
            </a: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Two-wheelers dominate the EV market with the highest sales share compared to other vehicle categories.</a:t>
            </a: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EV market penetration has steadily increased from 2015 to 2025, indicating rising awareness and government support for electric vehicles.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5620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0" y="606334"/>
            <a:ext cx="10515600" cy="1325563"/>
          </a:xfrm>
        </p:spPr>
        <p:txBody>
          <a:bodyPr lIns="91440" tIns="45720" rIns="91440" bIns="45720" anchor="t">
            <a:normAutofit/>
          </a:bodyPr>
          <a:lstStyle/>
          <a:p>
            <a:pPr marL="269875"/>
            <a:r>
              <a:rPr lang="en-US" sz="4000" b="1" cap="all" dirty="0">
                <a:latin typeface="Times New Roman" panose="02020603050405020304" pitchFamily="18" charset="0"/>
                <a:cs typeface="Times New Roman" panose="02020603050405020304" pitchFamily="18" charset="0"/>
              </a:rPr>
              <a:t>Conclusion:</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349217" y="1303020"/>
            <a:ext cx="10026818" cy="4251960"/>
          </a:xfrm>
        </p:spPr>
        <p:txBody>
          <a:bodyPr vert="horz" lIns="91440" tIns="45720" rIns="91440" bIns="45720" rtlCol="0">
            <a:normAutofit fontScale="92500" lnSpcReduction="10000"/>
          </a:bodyPr>
          <a:lstStyle/>
          <a:p>
            <a:pPr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This project analyzes electric vehicle adoption trends in India using a Power BI dashboard based on EV sales data from 2015 to 2025.</a:t>
            </a:r>
          </a:p>
          <a:p>
            <a:pPr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dashboard helps visualize EV sales growth, vehicle category distribution, and market penetration trends through interactive charts and visualizations.</a:t>
            </a:r>
          </a:p>
          <a:p>
            <a:pPr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analysis shows that electric vehicle adoption in India has increased significantly in recent years, with two-wheelers contributing the largest share of EV sales.</a:t>
            </a:r>
          </a:p>
          <a:p>
            <a:pPr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Overall, the project demonstrates how data visualization tools like Power BI can transform raw datasets into meaningful insights that help understand market trends and support data-driven decision making.</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pPr marL="269875"/>
            <a:r>
              <a:rPr lang="en-US" sz="4000" b="1" cap="all" dirty="0">
                <a:latin typeface="Times New Roman" panose="02020603050405020304" pitchFamily="18" charset="0"/>
                <a:cs typeface="Times New Roman" panose="02020603050405020304" pitchFamily="18" charset="0"/>
              </a:rPr>
              <a:t>Future scope:</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556829" y="1303020"/>
            <a:ext cx="9771078" cy="4251960"/>
          </a:xfrm>
        </p:spPr>
        <p:txBody>
          <a:bodyPr vert="horz" lIns="91440" tIns="45720" rIns="91440" bIns="45720" rtlCol="0">
            <a:normAutofit/>
          </a:bodyPr>
          <a:lstStyle/>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project can be further improved by incorporating additional datasets and advanced analytical techniques.</a:t>
            </a:r>
          </a:p>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Future improvements could include integrating real-time electric vehicle registration data to monitor the latest EV adoption trends across India.</a:t>
            </a:r>
          </a:p>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analysis can also be extended by including information about EV charging infrastructure, government incentives, and regional policy support.</a:t>
            </a:r>
          </a:p>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 addition, predictive analytics and machine learning models can be applied to forecast future EV sales trends and support better planning for sustainable transportation.</a:t>
            </a:r>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pPr marL="269875"/>
            <a:r>
              <a:rPr lang="en-US" sz="3600" b="1" cap="all" dirty="0">
                <a:latin typeface="Times New Roman" panose="02020603050405020304" pitchFamily="18" charset="0"/>
                <a:cs typeface="Times New Roman" panose="02020603050405020304" pitchFamily="18" charset="0"/>
              </a:rPr>
              <a:t>References :-</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269115"/>
            <a:ext cx="10515600" cy="4533970"/>
          </a:xfrm>
        </p:spPr>
        <p:txBody>
          <a:bodyPr vert="horz" lIns="91440" tIns="45720" rIns="91440" bIns="45720" rtlCol="0" anchor="t">
            <a:normAutofit/>
          </a:bodyPr>
          <a:lstStyle/>
          <a:p>
            <a:pPr marL="87313" indent="0">
              <a:buNone/>
            </a:pPr>
            <a:endParaRPr lang="en-IN" sz="2200" u="sng" dirty="0">
              <a:solidFill>
                <a:srgbClr val="0070C0"/>
              </a:solidFill>
              <a:latin typeface="Times New Roman" panose="02020603050405020304" pitchFamily="18" charset="0"/>
              <a:cs typeface="Times New Roman" panose="02020603050405020304" pitchFamily="18" charset="0"/>
            </a:endParaRPr>
          </a:p>
          <a:p>
            <a:pPr marL="87313" indent="0">
              <a:buNone/>
            </a:pPr>
            <a:endParaRPr lang="en-IN" sz="2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CECAA5C-3F05-D144-A800-D0AB64D71E26}"/>
              </a:ext>
            </a:extLst>
          </p:cNvPr>
          <p:cNvSpPr txBox="1"/>
          <p:nvPr/>
        </p:nvSpPr>
        <p:spPr>
          <a:xfrm>
            <a:off x="673769" y="1269115"/>
            <a:ext cx="9841283" cy="2674065"/>
          </a:xfrm>
          <a:prstGeom prst="rect">
            <a:avLst/>
          </a:prstGeom>
          <a:noFill/>
        </p:spPr>
        <p:txBody>
          <a:bodyPr wrap="square">
            <a:spAutoFit/>
          </a:bodyPr>
          <a:lstStyle/>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Kaggle – Indian Electric Vehicle Sales (2015–2025) Dataset, </a:t>
            </a:r>
          </a:p>
          <a:p>
            <a:pPr algn="just"/>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hlinkClick r:id="rId2"/>
              </a:rPr>
              <a:t>https://www.kaggle.com/datasets/vagdevititikshag/indian-electric-vehicle-sales-20152025</a:t>
            </a:r>
            <a:endParaRPr lang="en-IN" i="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startAt="2"/>
            </a:pPr>
            <a:r>
              <a:rPr lang="en-IN" dirty="0">
                <a:latin typeface="Times New Roman" panose="02020603050405020304" pitchFamily="18" charset="0"/>
                <a:cs typeface="Times New Roman" panose="02020603050405020304" pitchFamily="18" charset="0"/>
              </a:rPr>
              <a:t>NITI Aayog – Electric Vehicles in India Report.</a:t>
            </a:r>
          </a:p>
          <a:p>
            <a:pPr marL="342900" indent="-342900" algn="just">
              <a:lnSpc>
                <a:spcPct val="150000"/>
              </a:lnSpc>
              <a:buFont typeface="+mj-lt"/>
              <a:buAutoNum type="arabicPeriod" startAt="2"/>
            </a:pPr>
            <a:r>
              <a:rPr lang="en-IN" dirty="0">
                <a:latin typeface="Times New Roman" panose="02020603050405020304" pitchFamily="18" charset="0"/>
                <a:cs typeface="Times New Roman" panose="02020603050405020304" pitchFamily="18" charset="0"/>
              </a:rPr>
              <a:t>India Electric Mobility Index Report – NITI Aayog.</a:t>
            </a:r>
          </a:p>
          <a:p>
            <a:pPr marL="342900" indent="-342900" algn="just">
              <a:lnSpc>
                <a:spcPct val="150000"/>
              </a:lnSpc>
              <a:buFont typeface="+mj-lt"/>
              <a:buAutoNum type="arabicPeriod" startAt="2"/>
            </a:pPr>
            <a:r>
              <a:rPr lang="en-IN" dirty="0" err="1">
                <a:latin typeface="Times New Roman" panose="02020603050405020304" pitchFamily="18" charset="0"/>
                <a:cs typeface="Times New Roman" panose="02020603050405020304" pitchFamily="18" charset="0"/>
              </a:rPr>
              <a:t>Bryla</a:t>
            </a:r>
            <a:r>
              <a:rPr lang="en-IN" dirty="0">
                <a:latin typeface="Times New Roman" panose="02020603050405020304" pitchFamily="18" charset="0"/>
                <a:cs typeface="Times New Roman" panose="02020603050405020304" pitchFamily="18" charset="0"/>
              </a:rPr>
              <a:t>, P. (2022). Consumer Adoption of Electric Vehicles: A Systematic Literature Review.</a:t>
            </a:r>
          </a:p>
          <a:p>
            <a:pPr marL="342900" indent="-342900" algn="just">
              <a:lnSpc>
                <a:spcPct val="150000"/>
              </a:lnSpc>
              <a:buFont typeface="+mj-lt"/>
              <a:buAutoNum type="arabicPeriod" startAt="2"/>
            </a:pPr>
            <a:r>
              <a:rPr lang="en-IN" dirty="0" err="1">
                <a:latin typeface="Times New Roman" panose="02020603050405020304" pitchFamily="18" charset="0"/>
                <a:cs typeface="Times New Roman" panose="02020603050405020304" pitchFamily="18" charset="0"/>
              </a:rPr>
              <a:t>Sonjaya</a:t>
            </a:r>
            <a:r>
              <a:rPr lang="en-IN" dirty="0">
                <a:latin typeface="Times New Roman" panose="02020603050405020304" pitchFamily="18" charset="0"/>
                <a:cs typeface="Times New Roman" panose="02020603050405020304" pitchFamily="18" charset="0"/>
              </a:rPr>
              <a:t>, R. P. (2025). Visualizing the Growth of Electric Vehicles Using Power BI.</a:t>
            </a:r>
          </a:p>
          <a:p>
            <a:pPr marL="342900" indent="-342900" algn="just">
              <a:lnSpc>
                <a:spcPct val="150000"/>
              </a:lnSpc>
              <a:buFont typeface="+mj-lt"/>
              <a:buAutoNum type="arabicPeriod" startAt="2"/>
            </a:pPr>
            <a:r>
              <a:rPr lang="en-IN" dirty="0">
                <a:latin typeface="Times New Roman" panose="02020603050405020304" pitchFamily="18" charset="0"/>
                <a:cs typeface="Times New Roman" panose="02020603050405020304" pitchFamily="18" charset="0"/>
              </a:rPr>
              <a:t>GitHub Repository: </a:t>
            </a:r>
            <a:r>
              <a:rPr lang="en-IN" dirty="0">
                <a:latin typeface="Times New Roman" panose="02020603050405020304" pitchFamily="18" charset="0"/>
                <a:cs typeface="Times New Roman" panose="02020603050405020304" pitchFamily="18" charset="0"/>
                <a:hlinkClick r:id="rId3"/>
              </a:rPr>
              <a:t>https://github.com/SUMANTH-S-27/EV-Adoption-PowerBI-Dashboard.git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6000" b="1" dirty="0">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1081</Words>
  <Application>Microsoft Office PowerPoint</Application>
  <PresentationFormat>Widescreen</PresentationFormat>
  <Paragraphs>88</Paragraphs>
  <Slides>13</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Arial</vt:lpstr>
      <vt:lpstr>Calibri</vt:lpstr>
      <vt:lpstr>Times New Roman</vt:lpstr>
      <vt:lpstr>Wingdings</vt:lpstr>
      <vt:lpstr>1_Office Theme</vt:lpstr>
      <vt:lpstr>Custom Design</vt:lpstr>
      <vt:lpstr>PowerPoint Presentation</vt:lpstr>
      <vt:lpstr>OUTLINE :-</vt:lpstr>
      <vt:lpstr>Problem Statement :-</vt:lpstr>
      <vt:lpstr>Proposed Solution :-</vt:lpstr>
      <vt:lpstr>System  Approach :-</vt:lpstr>
      <vt:lpstr>Algorithm &amp; Deployment :-</vt:lpstr>
      <vt:lpstr>Result :-</vt:lpstr>
      <vt:lpstr>Result :-</vt:lpstr>
      <vt:lpstr>Result :-</vt:lpstr>
      <vt:lpstr>Conclusion:</vt:lpstr>
      <vt:lpstr>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SUMANTH S</cp:lastModifiedBy>
  <cp:revision>161</cp:revision>
  <dcterms:created xsi:type="dcterms:W3CDTF">2024-05-21T11:55:07Z</dcterms:created>
  <dcterms:modified xsi:type="dcterms:W3CDTF">2026-03-14T18:38:02Z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